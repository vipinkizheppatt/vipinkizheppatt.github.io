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8"/>
  </p:notesMasterIdLst>
  <p:handoutMasterIdLst>
    <p:handoutMasterId r:id="rId19"/>
  </p:handoutMasterIdLst>
  <p:sldIdLst>
    <p:sldId id="259" r:id="rId6"/>
    <p:sldId id="498" r:id="rId7"/>
    <p:sldId id="499" r:id="rId8"/>
    <p:sldId id="500" r:id="rId9"/>
    <p:sldId id="501" r:id="rId10"/>
    <p:sldId id="502" r:id="rId11"/>
    <p:sldId id="503" r:id="rId12"/>
    <p:sldId id="504" r:id="rId13"/>
    <p:sldId id="506" r:id="rId14"/>
    <p:sldId id="505" r:id="rId15"/>
    <p:sldId id="507" r:id="rId16"/>
    <p:sldId id="51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83F2"/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0741" autoAdjust="0"/>
  </p:normalViewPr>
  <p:slideViewPr>
    <p:cSldViewPr snapToGrid="0" snapToObjects="1">
      <p:cViewPr varScale="1">
        <p:scale>
          <a:sx n="50" d="100"/>
          <a:sy n="50" d="100"/>
        </p:scale>
        <p:origin x="1252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5" d="100"/>
          <a:sy n="45" d="100"/>
        </p:scale>
        <p:origin x="276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2487E8-9753-0838-07FB-3C04BCC76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AF7BB-D6C9-B8F2-F8C5-34630799FE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77ADC-8D63-4594-9448-377A072F769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6E8F6-1A5C-BA9F-1028-726CEE731E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9B748-0323-2547-EBCF-3422D92DF2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F97AF-709F-499E-8528-69CFBF3AA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056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6/12/2026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AC09-A974-4A87-371A-D2A825540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145C4-5564-65D1-D170-AA8326502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25263-7DE3-7924-DC3F-AC9C46F7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DDD8E-70BC-DE54-263D-4C8B0935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82F59-0A74-A179-DAC5-3B41A162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456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C997-2D92-1993-8033-1193F224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F0EAC-AE47-835B-8A7C-9453A4C45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DA05F-9C7D-4DC3-DDB5-ABA1C6C3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F45D-A244-39B1-B0A8-BDF4D91C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04DC-6CD3-D2CA-A172-9B9FD210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11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E103-CE13-7CC3-F7E7-384A6C2A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AE9E6-5B70-908D-D0D0-F4817745B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1EEF-EC1C-62FE-CCFA-CCCD3F3C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C7260-97BE-FFE0-EAF3-1D0D8E82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F70CB-7FD3-5A0B-6214-318E63E1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203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B931-2D81-376A-4393-4813C712B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2B97E-93F3-1C93-444A-4D434EC8A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57631-B2B6-E764-4EA2-1F08EE10B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554D2-2538-144D-8060-C33543BE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EE9BA-BC16-E210-D8EE-16BDACCF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7AE7E-C183-1CED-32E6-E8D3A0DB2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83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454E-98CA-3F02-AEAA-F21A1C94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DC8AD-2AE0-3384-A808-AC4B37E1E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791CB-6EBA-4D71-1807-FE98808A9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3795D-9836-958C-05D7-3E548D01A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B1B55-AC46-7C42-C71D-5E62F30BD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CC6C39-9BDC-84FE-B51C-11D86D30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FEFD3-BF2D-4EF9-5D69-AB75B1F0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32E5A-85BD-F733-0F25-A11318E0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850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C661-F2F2-75A5-2D8D-BF585118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AEACE-0DD9-13F9-0444-157BB07B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8CADF-BC4F-CCEF-FFC0-5F4F35F5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E36E2-73B7-F3D7-ECEE-E324C48D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954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77A9F-4BD4-C6D3-FA9D-85531239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49685-1706-0FAD-B0EE-2DD5349F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37F65-E4F5-FA21-5D69-C1D9B599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433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51B23-F973-3696-6476-24F54821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C9B79-3499-BCEF-EDDF-61399935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31C31-89E4-E5CA-563D-193393ABD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4BCE8-AE98-9DCE-2689-B2EEBD60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7FA36-6CDA-0DD6-0DF8-8DB910B0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94A80-B3D6-8C75-56F1-3166C297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144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D720-64C6-C1DC-5C71-DF1CB007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550D3-CAC6-A1D5-B54E-A13735674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531DF-ADE1-8F36-D6CD-E5CA66070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0BC96-FA91-4B3B-1008-3AFF9E93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2218C-BDB3-65D8-34D7-FBF32500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B14D4-BC58-43BD-DB41-8D44449A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60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C39D-DBEF-29EF-AFDD-EAA68AC0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5F802-031F-27AF-79E0-CA9540E27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52A77-C5D4-8BF5-EC09-08F91772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B46D6-C450-2134-49DE-A132350E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DAEDB-4B15-502E-B181-D170288C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321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09212-DB52-35AA-C76D-DD2F9A2DC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56529-F850-3C33-71C9-510BBE4DB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25E40-F321-77E7-1DF3-E5327B26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4A717-6A1D-872E-58DF-97F23178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D5D7-C380-A5C6-7E0D-D5E0BE21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28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823DC-EFBE-521F-8822-8CD99391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FDC2-FCC1-65E5-A0E6-DD5C8E808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62A5A-ADCC-DE2C-3C41-B6AB552CA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31C0D-EBD2-4C02-8FF5-781A95C9E70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72339-D3ED-AAF7-7466-F7FC33211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EB7DF-D03E-8ADD-FE0E-9A30C9252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53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826ED7B-AA6F-A42E-FE53-C77D85200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424" y="1260712"/>
            <a:ext cx="4336576" cy="433657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775583F-376C-40AE-9849-09070F0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8079290" cy="2130561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FPGA </a:t>
            </a:r>
            <a:r>
              <a:rPr lang="en-US" sz="4400" b="1" i="1" dirty="0">
                <a:latin typeface="Segoe UI" panose="020B0502040204020203" pitchFamily="34" charset="0"/>
                <a:cs typeface="Segoe UI" panose="020B0502040204020203" pitchFamily="34" charset="0"/>
              </a:rPr>
              <a:t>Programming</a:t>
            </a:r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60D9-4023-C03C-2CC6-7DE4122D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BA170A-FDA0-82DC-1BD8-2FC7F6E0B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A1409-EFF0-1159-D4D2-176E63F7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Programming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07C3C61-89C2-0B08-2341-918D255D444D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When you start using FPGAs, you will often come across the term </a:t>
            </a:r>
            <a:r>
              <a:rPr lang="en-US" sz="2800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FPGA programming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This nomenclature causes many misconception in the beginners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This gives a kind of feeling that FPGAs are some kind of processors since you are very familiar with the term programming associated with processors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But here what is happening is totally different  </a:t>
            </a:r>
          </a:p>
        </p:txBody>
      </p:sp>
    </p:spTree>
    <p:extLst>
      <p:ext uri="{BB962C8B-B14F-4D97-AF65-F5344CB8AC3E}">
        <p14:creationId xmlns:p14="http://schemas.microsoft.com/office/powerpoint/2010/main" val="376613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7CE2-61BE-B287-9A08-55016292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5FE528-2908-7302-2412-C68660BE1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96176-86CA-B744-49EC-848E39CD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Processor Programming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EF0602-09CF-F0C2-BE98-025C199024A3}"/>
              </a:ext>
            </a:extLst>
          </p:cNvPr>
          <p:cNvSpPr/>
          <p:nvPr/>
        </p:nvSpPr>
        <p:spPr>
          <a:xfrm>
            <a:off x="1936064" y="1426041"/>
            <a:ext cx="3592016" cy="4536504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5234FD-3936-9D6C-E07A-9DDAB2A0D08B}"/>
              </a:ext>
            </a:extLst>
          </p:cNvPr>
          <p:cNvSpPr/>
          <p:nvPr/>
        </p:nvSpPr>
        <p:spPr>
          <a:xfrm>
            <a:off x="3079808" y="5265544"/>
            <a:ext cx="2160240" cy="360040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FE29D-122C-A880-A8FF-7F4DEA2E3B7B}"/>
              </a:ext>
            </a:extLst>
          </p:cNvPr>
          <p:cNvSpPr txBox="1"/>
          <p:nvPr/>
        </p:nvSpPr>
        <p:spPr>
          <a:xfrm>
            <a:off x="2575752" y="5377189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PC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0BAFA-F0DA-4623-4EF5-49F2E12EAAA8}"/>
              </a:ext>
            </a:extLst>
          </p:cNvPr>
          <p:cNvSpPr txBox="1"/>
          <p:nvPr/>
        </p:nvSpPr>
        <p:spPr>
          <a:xfrm>
            <a:off x="3901721" y="5267812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srgbClr val="FF0000"/>
                </a:solidFill>
                <a:latin typeface="Calibri"/>
              </a:rPr>
              <a:t>0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631B1-6ED9-C0BA-3277-630D1A881676}"/>
              </a:ext>
            </a:extLst>
          </p:cNvPr>
          <p:cNvSpPr/>
          <p:nvPr/>
        </p:nvSpPr>
        <p:spPr>
          <a:xfrm>
            <a:off x="3042291" y="3946321"/>
            <a:ext cx="2160240" cy="1233428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 logic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48ACE-04E2-71C5-D7E6-AA5135862761}"/>
              </a:ext>
            </a:extLst>
          </p:cNvPr>
          <p:cNvSpPr/>
          <p:nvPr/>
        </p:nvSpPr>
        <p:spPr>
          <a:xfrm>
            <a:off x="3439848" y="3004889"/>
            <a:ext cx="1162784" cy="581392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C27059-34C0-E660-9E22-E9726DD1D9BF}"/>
              </a:ext>
            </a:extLst>
          </p:cNvPr>
          <p:cNvSpPr/>
          <p:nvPr/>
        </p:nvSpPr>
        <p:spPr>
          <a:xfrm>
            <a:off x="2570424" y="1930097"/>
            <a:ext cx="581392" cy="290696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ADBCC-D15C-B744-88D8-FDFD743C2F59}"/>
              </a:ext>
            </a:extLst>
          </p:cNvPr>
          <p:cNvSpPr txBox="1"/>
          <p:nvPr/>
        </p:nvSpPr>
        <p:spPr>
          <a:xfrm>
            <a:off x="2647760" y="2176204"/>
            <a:ext cx="4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200" dirty="0">
                <a:solidFill>
                  <a:prstClr val="black"/>
                </a:solidFill>
                <a:latin typeface="Calibri"/>
              </a:rPr>
              <a:t>Reg0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9BDEBB-B684-D4C1-3AAA-5AAAA6E3D6B6}"/>
              </a:ext>
            </a:extLst>
          </p:cNvPr>
          <p:cNvSpPr/>
          <p:nvPr/>
        </p:nvSpPr>
        <p:spPr>
          <a:xfrm>
            <a:off x="4799071" y="3150237"/>
            <a:ext cx="581392" cy="290696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90CC3-27B9-55A5-89A7-4CDE8E94020A}"/>
              </a:ext>
            </a:extLst>
          </p:cNvPr>
          <p:cNvSpPr/>
          <p:nvPr/>
        </p:nvSpPr>
        <p:spPr>
          <a:xfrm>
            <a:off x="4159928" y="1925615"/>
            <a:ext cx="581392" cy="290696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A42A22-99D7-2E53-32D5-B4BCBEB9D8AF}"/>
              </a:ext>
            </a:extLst>
          </p:cNvPr>
          <p:cNvSpPr/>
          <p:nvPr/>
        </p:nvSpPr>
        <p:spPr>
          <a:xfrm>
            <a:off x="4808000" y="1917397"/>
            <a:ext cx="581392" cy="290696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A4187-4E0D-93A2-298F-476F5846FED6}"/>
              </a:ext>
            </a:extLst>
          </p:cNvPr>
          <p:cNvSpPr txBox="1"/>
          <p:nvPr/>
        </p:nvSpPr>
        <p:spPr>
          <a:xfrm>
            <a:off x="3459858" y="2185114"/>
            <a:ext cx="4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200" dirty="0">
                <a:solidFill>
                  <a:prstClr val="black"/>
                </a:solidFill>
                <a:latin typeface="Calibri"/>
              </a:rPr>
              <a:t>Reg1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775AA-6DE6-311D-7670-C33A1FFCC3BB}"/>
              </a:ext>
            </a:extLst>
          </p:cNvPr>
          <p:cNvSpPr txBox="1"/>
          <p:nvPr/>
        </p:nvSpPr>
        <p:spPr>
          <a:xfrm>
            <a:off x="4334610" y="2182554"/>
            <a:ext cx="4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200" dirty="0">
                <a:solidFill>
                  <a:prstClr val="black"/>
                </a:solidFill>
                <a:latin typeface="Calibri"/>
              </a:rPr>
              <a:t>Reg2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F0B113-48CD-9E66-08A0-5E3F44757FDB}"/>
              </a:ext>
            </a:extLst>
          </p:cNvPr>
          <p:cNvSpPr txBox="1"/>
          <p:nvPr/>
        </p:nvSpPr>
        <p:spPr>
          <a:xfrm>
            <a:off x="4978476" y="2171505"/>
            <a:ext cx="4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200" dirty="0">
                <a:solidFill>
                  <a:prstClr val="black"/>
                </a:solidFill>
                <a:latin typeface="Calibri"/>
              </a:rPr>
              <a:t>Reg3</a:t>
            </a: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3B5728DC-5F27-8634-7D72-F2D951F80CEC}"/>
              </a:ext>
            </a:extLst>
          </p:cNvPr>
          <p:cNvSpPr/>
          <p:nvPr/>
        </p:nvSpPr>
        <p:spPr>
          <a:xfrm flipV="1">
            <a:off x="3946568" y="2506161"/>
            <a:ext cx="717416" cy="288032"/>
          </a:xfrm>
          <a:prstGeom prst="trapezoid">
            <a:avLst>
              <a:gd name="adj" fmla="val 75706"/>
            </a:avLst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Elbow Connector 48">
            <a:extLst>
              <a:ext uri="{FF2B5EF4-FFF2-40B4-BE49-F238E27FC236}">
                <a16:creationId xmlns:a16="http://schemas.microsoft.com/office/drawing/2014/main" id="{9EDAA87E-DAA7-9546-2F73-A2639D8E1CFF}"/>
              </a:ext>
            </a:extLst>
          </p:cNvPr>
          <p:cNvCxnSpPr/>
          <p:nvPr/>
        </p:nvCxnSpPr>
        <p:spPr>
          <a:xfrm rot="16200000" flipH="1">
            <a:off x="2892302" y="2208093"/>
            <a:ext cx="792088" cy="792088"/>
          </a:xfrm>
          <a:prstGeom prst="bentConnector3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527781-1A33-0EA2-6F71-AD8F9C397BC2}"/>
              </a:ext>
            </a:extLst>
          </p:cNvPr>
          <p:cNvCxnSpPr>
            <a:stCxn id="19" idx="0"/>
          </p:cNvCxnSpPr>
          <p:nvPr/>
        </p:nvCxnSpPr>
        <p:spPr>
          <a:xfrm>
            <a:off x="4305276" y="2794193"/>
            <a:ext cx="0" cy="21069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1C8DC5-AA1D-4E09-3729-324F3AA8BB7A}"/>
              </a:ext>
            </a:extLst>
          </p:cNvPr>
          <p:cNvGrpSpPr/>
          <p:nvPr/>
        </p:nvGrpSpPr>
        <p:grpSpPr>
          <a:xfrm>
            <a:off x="2647760" y="2218130"/>
            <a:ext cx="792088" cy="1077455"/>
            <a:chOff x="1547664" y="2060849"/>
            <a:chExt cx="792088" cy="107745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3E892F6-AED2-67C1-C154-09E87139592E}"/>
                </a:ext>
              </a:extLst>
            </p:cNvPr>
            <p:cNvCxnSpPr/>
            <p:nvPr/>
          </p:nvCxnSpPr>
          <p:spPr>
            <a:xfrm flipV="1">
              <a:off x="1547664" y="2060849"/>
              <a:ext cx="0" cy="107745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7010E1C-F375-C0C0-4F29-EFE63AE3E8C2}"/>
                </a:ext>
              </a:extLst>
            </p:cNvPr>
            <p:cNvCxnSpPr/>
            <p:nvPr/>
          </p:nvCxnSpPr>
          <p:spPr>
            <a:xfrm>
              <a:off x="1547664" y="3138304"/>
              <a:ext cx="792088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</p:grpSp>
      <p:cxnSp>
        <p:nvCxnSpPr>
          <p:cNvPr id="25" name="Elbow Connector 57">
            <a:extLst>
              <a:ext uri="{FF2B5EF4-FFF2-40B4-BE49-F238E27FC236}">
                <a16:creationId xmlns:a16="http://schemas.microsoft.com/office/drawing/2014/main" id="{0D5A48E6-2780-801A-EB0C-DE706B51746B}"/>
              </a:ext>
            </a:extLst>
          </p:cNvPr>
          <p:cNvCxnSpPr/>
          <p:nvPr/>
        </p:nvCxnSpPr>
        <p:spPr>
          <a:xfrm rot="16200000" flipH="1">
            <a:off x="3769212" y="2254133"/>
            <a:ext cx="285368" cy="218688"/>
          </a:xfrm>
          <a:prstGeom prst="bentConnector3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26" name="Elbow Connector 59">
            <a:extLst>
              <a:ext uri="{FF2B5EF4-FFF2-40B4-BE49-F238E27FC236}">
                <a16:creationId xmlns:a16="http://schemas.microsoft.com/office/drawing/2014/main" id="{271374EB-D374-C6D6-1993-DFB0A644803A}"/>
              </a:ext>
            </a:extLst>
          </p:cNvPr>
          <p:cNvCxnSpPr/>
          <p:nvPr/>
        </p:nvCxnSpPr>
        <p:spPr>
          <a:xfrm rot="5400000">
            <a:off x="4689255" y="2101168"/>
            <a:ext cx="285368" cy="515655"/>
          </a:xfrm>
          <a:prstGeom prst="bentConnector3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9F7D19-28A2-E3B2-DE45-AD124FB7F710}"/>
              </a:ext>
            </a:extLst>
          </p:cNvPr>
          <p:cNvCxnSpPr/>
          <p:nvPr/>
        </p:nvCxnSpPr>
        <p:spPr>
          <a:xfrm>
            <a:off x="4361663" y="2207342"/>
            <a:ext cx="0" cy="30848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A751B6D-6DB0-AFCE-826E-5105B9558BC4}"/>
              </a:ext>
            </a:extLst>
          </p:cNvPr>
          <p:cNvSpPr txBox="1"/>
          <p:nvPr/>
        </p:nvSpPr>
        <p:spPr>
          <a:xfrm>
            <a:off x="4071077" y="2504023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100" dirty="0">
                <a:solidFill>
                  <a:prstClr val="black"/>
                </a:solidFill>
                <a:latin typeface="Calibri"/>
              </a:rPr>
              <a:t>MUX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3CEF73-7E49-073D-2E48-E1DA1EEDDBD8}"/>
              </a:ext>
            </a:extLst>
          </p:cNvPr>
          <p:cNvSpPr/>
          <p:nvPr/>
        </p:nvSpPr>
        <p:spPr>
          <a:xfrm>
            <a:off x="3511856" y="1930097"/>
            <a:ext cx="581392" cy="290696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D65B9-2E09-1E36-C702-EFAF8828B960}"/>
              </a:ext>
            </a:extLst>
          </p:cNvPr>
          <p:cNvSpPr txBox="1"/>
          <p:nvPr/>
        </p:nvSpPr>
        <p:spPr>
          <a:xfrm>
            <a:off x="5056858" y="338549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200" dirty="0">
                <a:solidFill>
                  <a:prstClr val="black"/>
                </a:solidFill>
                <a:latin typeface="Calibri"/>
              </a:rPr>
              <a:t>F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C96FAD-7FAB-EA40-8D45-C1D3FD28BAF6}"/>
              </a:ext>
            </a:extLst>
          </p:cNvPr>
          <p:cNvCxnSpPr/>
          <p:nvPr/>
        </p:nvCxnSpPr>
        <p:spPr>
          <a:xfrm rot="16200000">
            <a:off x="4707980" y="3190237"/>
            <a:ext cx="0" cy="21069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4BE945-9763-74B8-C4CF-B3D2EC789D4A}"/>
              </a:ext>
            </a:extLst>
          </p:cNvPr>
          <p:cNvCxnSpPr/>
          <p:nvPr/>
        </p:nvCxnSpPr>
        <p:spPr>
          <a:xfrm flipH="1">
            <a:off x="3151816" y="2541223"/>
            <a:ext cx="136530" cy="134354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4DE4EC-F314-6627-E98B-8641144CC343}"/>
              </a:ext>
            </a:extLst>
          </p:cNvPr>
          <p:cNvCxnSpPr/>
          <p:nvPr/>
        </p:nvCxnSpPr>
        <p:spPr>
          <a:xfrm flipH="1">
            <a:off x="3033200" y="3229553"/>
            <a:ext cx="136530" cy="134354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95CBF4-3AF0-BF5F-E5FF-3C5F551A9EAE}"/>
              </a:ext>
            </a:extLst>
          </p:cNvPr>
          <p:cNvCxnSpPr/>
          <p:nvPr/>
        </p:nvCxnSpPr>
        <p:spPr>
          <a:xfrm flipH="1">
            <a:off x="3810038" y="2311228"/>
            <a:ext cx="136530" cy="134354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D32888-627E-1A67-C46C-52890E4E36E1}"/>
              </a:ext>
            </a:extLst>
          </p:cNvPr>
          <p:cNvCxnSpPr/>
          <p:nvPr/>
        </p:nvCxnSpPr>
        <p:spPr>
          <a:xfrm flipH="1">
            <a:off x="4300464" y="2256436"/>
            <a:ext cx="136530" cy="134354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691CB1B-37B1-7B86-D6D7-7003EC058D7B}"/>
              </a:ext>
            </a:extLst>
          </p:cNvPr>
          <p:cNvCxnSpPr/>
          <p:nvPr/>
        </p:nvCxnSpPr>
        <p:spPr>
          <a:xfrm flipH="1">
            <a:off x="4797454" y="2294405"/>
            <a:ext cx="136530" cy="134354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FA8DB64-C6FF-EE64-C326-B0FFE0570ABD}"/>
              </a:ext>
            </a:extLst>
          </p:cNvPr>
          <p:cNvCxnSpPr/>
          <p:nvPr/>
        </p:nvCxnSpPr>
        <p:spPr>
          <a:xfrm flipH="1">
            <a:off x="4244492" y="2834329"/>
            <a:ext cx="124119" cy="75839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E3CDE8D-1AA5-DD63-180E-454C829CE82F}"/>
              </a:ext>
            </a:extLst>
          </p:cNvPr>
          <p:cNvCxnSpPr/>
          <p:nvPr/>
        </p:nvCxnSpPr>
        <p:spPr>
          <a:xfrm>
            <a:off x="2215712" y="1642065"/>
            <a:ext cx="2874055" cy="1269"/>
          </a:xfrm>
          <a:prstGeom prst="line">
            <a:avLst/>
          </a:prstGeom>
          <a:noFill/>
          <a:ln w="44450" cap="flat" cmpd="sng" algn="ctr">
            <a:solidFill>
              <a:srgbClr val="EEECE1"/>
            </a:solidFill>
            <a:prstDash val="solid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CA991E-3D3B-8573-FD51-6FB203B2DB6A}"/>
              </a:ext>
            </a:extLst>
          </p:cNvPr>
          <p:cNvCxnSpPr/>
          <p:nvPr/>
        </p:nvCxnSpPr>
        <p:spPr>
          <a:xfrm flipH="1">
            <a:off x="2215712" y="1626318"/>
            <a:ext cx="12700" cy="3832171"/>
          </a:xfrm>
          <a:prstGeom prst="line">
            <a:avLst/>
          </a:prstGeom>
          <a:noFill/>
          <a:ln w="44450" cap="flat" cmpd="sng" algn="ctr">
            <a:solidFill>
              <a:srgbClr val="EEECE1"/>
            </a:solidFill>
            <a:prstDash val="solid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EDC2BB-D796-097D-8925-6DBE9AA2C6C5}"/>
              </a:ext>
            </a:extLst>
          </p:cNvPr>
          <p:cNvCxnSpPr/>
          <p:nvPr/>
        </p:nvCxnSpPr>
        <p:spPr>
          <a:xfrm flipH="1">
            <a:off x="2241225" y="4486381"/>
            <a:ext cx="793261" cy="0"/>
          </a:xfrm>
          <a:prstGeom prst="line">
            <a:avLst/>
          </a:prstGeom>
          <a:noFill/>
          <a:ln w="25400" cap="flat" cmpd="sng" algn="ctr">
            <a:solidFill>
              <a:srgbClr val="EEECE1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528A057-D064-3FBA-34BF-128C630DDF75}"/>
              </a:ext>
            </a:extLst>
          </p:cNvPr>
          <p:cNvCxnSpPr>
            <a:endCxn id="4" idx="1"/>
          </p:cNvCxnSpPr>
          <p:nvPr/>
        </p:nvCxnSpPr>
        <p:spPr>
          <a:xfrm>
            <a:off x="2199848" y="5445564"/>
            <a:ext cx="879960" cy="0"/>
          </a:xfrm>
          <a:prstGeom prst="line">
            <a:avLst/>
          </a:prstGeom>
          <a:noFill/>
          <a:ln w="25400" cap="flat" cmpd="sng" algn="ctr">
            <a:solidFill>
              <a:srgbClr val="EEECE1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5E0F8D-96FA-BF3F-7823-7AAC8325ABF7}"/>
              </a:ext>
            </a:extLst>
          </p:cNvPr>
          <p:cNvCxnSpPr/>
          <p:nvPr/>
        </p:nvCxnSpPr>
        <p:spPr>
          <a:xfrm>
            <a:off x="2861120" y="1643334"/>
            <a:ext cx="0" cy="270096"/>
          </a:xfrm>
          <a:prstGeom prst="line">
            <a:avLst/>
          </a:prstGeom>
          <a:noFill/>
          <a:ln w="25400" cap="flat" cmpd="sng" algn="ctr">
            <a:solidFill>
              <a:srgbClr val="EEECE1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9837144-AF24-45B5-903C-053D5125CC3C}"/>
              </a:ext>
            </a:extLst>
          </p:cNvPr>
          <p:cNvCxnSpPr/>
          <p:nvPr/>
        </p:nvCxnSpPr>
        <p:spPr>
          <a:xfrm>
            <a:off x="3802552" y="1643334"/>
            <a:ext cx="0" cy="273297"/>
          </a:xfrm>
          <a:prstGeom prst="line">
            <a:avLst/>
          </a:prstGeom>
          <a:noFill/>
          <a:ln w="25400" cap="flat" cmpd="sng" algn="ctr">
            <a:solidFill>
              <a:srgbClr val="EEECE1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053BD5D-5793-0C6F-44A7-C64CC61AA344}"/>
              </a:ext>
            </a:extLst>
          </p:cNvPr>
          <p:cNvCxnSpPr/>
          <p:nvPr/>
        </p:nvCxnSpPr>
        <p:spPr>
          <a:xfrm>
            <a:off x="4433674" y="1643334"/>
            <a:ext cx="0" cy="271736"/>
          </a:xfrm>
          <a:prstGeom prst="line">
            <a:avLst/>
          </a:prstGeom>
          <a:noFill/>
          <a:ln w="25400" cap="flat" cmpd="sng" algn="ctr">
            <a:solidFill>
              <a:srgbClr val="EEECE1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845EF8B-A9F3-75D6-EF5B-AEED4440128A}"/>
              </a:ext>
            </a:extLst>
          </p:cNvPr>
          <p:cNvCxnSpPr/>
          <p:nvPr/>
        </p:nvCxnSpPr>
        <p:spPr>
          <a:xfrm>
            <a:off x="5074321" y="1643334"/>
            <a:ext cx="0" cy="261845"/>
          </a:xfrm>
          <a:prstGeom prst="line">
            <a:avLst/>
          </a:prstGeom>
          <a:noFill/>
          <a:ln w="25400" cap="flat" cmpd="sng" algn="ctr">
            <a:solidFill>
              <a:srgbClr val="EEECE1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CEB14BE-3C69-4B54-0184-287F48C6BA39}"/>
              </a:ext>
            </a:extLst>
          </p:cNvPr>
          <p:cNvCxnSpPr/>
          <p:nvPr/>
        </p:nvCxnSpPr>
        <p:spPr>
          <a:xfrm flipH="1">
            <a:off x="2359728" y="1778718"/>
            <a:ext cx="6350" cy="3598471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6172741-DB37-BE71-551B-CF1842E32EF8}"/>
              </a:ext>
            </a:extLst>
          </p:cNvPr>
          <p:cNvCxnSpPr/>
          <p:nvPr/>
        </p:nvCxnSpPr>
        <p:spPr>
          <a:xfrm flipH="1" flipV="1">
            <a:off x="2358459" y="1786338"/>
            <a:ext cx="2612350" cy="6350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2A36B06-1EEA-0EAD-F4FB-F2B5E9F911DF}"/>
              </a:ext>
            </a:extLst>
          </p:cNvPr>
          <p:cNvCxnSpPr/>
          <p:nvPr/>
        </p:nvCxnSpPr>
        <p:spPr>
          <a:xfrm>
            <a:off x="3013520" y="1782340"/>
            <a:ext cx="0" cy="138452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7CD41EE-824D-E247-2076-BB80407D1219}"/>
              </a:ext>
            </a:extLst>
          </p:cNvPr>
          <p:cNvCxnSpPr/>
          <p:nvPr/>
        </p:nvCxnSpPr>
        <p:spPr>
          <a:xfrm>
            <a:off x="3946568" y="1778945"/>
            <a:ext cx="0" cy="138452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2D830ED-E46F-F2BA-BEDB-D9A35BE7ADD6}"/>
              </a:ext>
            </a:extLst>
          </p:cNvPr>
          <p:cNvCxnSpPr/>
          <p:nvPr/>
        </p:nvCxnSpPr>
        <p:spPr>
          <a:xfrm>
            <a:off x="4539951" y="1778179"/>
            <a:ext cx="0" cy="138452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D2F2547-055D-7A49-F3B1-5F0EC551EDAE}"/>
              </a:ext>
            </a:extLst>
          </p:cNvPr>
          <p:cNvCxnSpPr/>
          <p:nvPr/>
        </p:nvCxnSpPr>
        <p:spPr>
          <a:xfrm>
            <a:off x="4960400" y="1778945"/>
            <a:ext cx="0" cy="138452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372DF24-8CB2-EBDB-364B-61C53D7A56AC}"/>
              </a:ext>
            </a:extLst>
          </p:cNvPr>
          <p:cNvCxnSpPr/>
          <p:nvPr/>
        </p:nvCxnSpPr>
        <p:spPr>
          <a:xfrm flipH="1">
            <a:off x="2355852" y="4306753"/>
            <a:ext cx="677348" cy="0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DF18021-C314-DCA8-CDC1-9D9EDCE6E820}"/>
              </a:ext>
            </a:extLst>
          </p:cNvPr>
          <p:cNvCxnSpPr/>
          <p:nvPr/>
        </p:nvCxnSpPr>
        <p:spPr>
          <a:xfrm>
            <a:off x="2353716" y="5367191"/>
            <a:ext cx="716677" cy="0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0669C41-FCE9-18F7-7AF6-17FD97060807}"/>
              </a:ext>
            </a:extLst>
          </p:cNvPr>
          <p:cNvCxnSpPr/>
          <p:nvPr/>
        </p:nvCxnSpPr>
        <p:spPr>
          <a:xfrm>
            <a:off x="1351616" y="2604136"/>
            <a:ext cx="584448" cy="0"/>
          </a:xfrm>
          <a:prstGeom prst="straightConnector1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381D8AE-1A01-639A-9FF0-B4E1AFCB5933}"/>
              </a:ext>
            </a:extLst>
          </p:cNvPr>
          <p:cNvSpPr txBox="1"/>
          <p:nvPr/>
        </p:nvSpPr>
        <p:spPr>
          <a:xfrm>
            <a:off x="1279608" y="2362145"/>
            <a:ext cx="679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400" dirty="0">
                <a:solidFill>
                  <a:prstClr val="black"/>
                </a:solidFill>
                <a:latin typeface="Calibri"/>
              </a:rPr>
              <a:t>Reset#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C0F4C63-CA41-A9A5-A5FC-A84F28175FFE}"/>
              </a:ext>
            </a:extLst>
          </p:cNvPr>
          <p:cNvCxnSpPr/>
          <p:nvPr/>
        </p:nvCxnSpPr>
        <p:spPr>
          <a:xfrm>
            <a:off x="2224353" y="3715637"/>
            <a:ext cx="2874055" cy="1269"/>
          </a:xfrm>
          <a:prstGeom prst="line">
            <a:avLst/>
          </a:prstGeom>
          <a:noFill/>
          <a:ln w="44450" cap="flat" cmpd="sng" algn="ctr">
            <a:solidFill>
              <a:srgbClr val="EEECE1"/>
            </a:solidFill>
            <a:prstDash val="solid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1D3EF50-36A3-A258-EEB1-ADF4FA4160B6}"/>
              </a:ext>
            </a:extLst>
          </p:cNvPr>
          <p:cNvCxnSpPr/>
          <p:nvPr/>
        </p:nvCxnSpPr>
        <p:spPr>
          <a:xfrm>
            <a:off x="5086508" y="3452567"/>
            <a:ext cx="0" cy="250183"/>
          </a:xfrm>
          <a:prstGeom prst="line">
            <a:avLst/>
          </a:prstGeom>
          <a:noFill/>
          <a:ln w="25400" cap="flat" cmpd="sng" algn="ctr">
            <a:solidFill>
              <a:srgbClr val="EEECE1"/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5CD3DB6-3F61-9098-E0A8-F2062FE044A8}"/>
              </a:ext>
            </a:extLst>
          </p:cNvPr>
          <p:cNvCxnSpPr/>
          <p:nvPr/>
        </p:nvCxnSpPr>
        <p:spPr>
          <a:xfrm>
            <a:off x="5193982" y="4810417"/>
            <a:ext cx="2998394" cy="0"/>
          </a:xfrm>
          <a:prstGeom prst="straightConnector1">
            <a:avLst/>
          </a:prstGeom>
          <a:noFill/>
          <a:ln w="34925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E998BC6-055B-4366-EB2A-107ECC6E1CDD}"/>
              </a:ext>
            </a:extLst>
          </p:cNvPr>
          <p:cNvCxnSpPr/>
          <p:nvPr/>
        </p:nvCxnSpPr>
        <p:spPr>
          <a:xfrm>
            <a:off x="5193982" y="4179654"/>
            <a:ext cx="2998394" cy="0"/>
          </a:xfrm>
          <a:prstGeom prst="straightConnector1">
            <a:avLst/>
          </a:prstGeom>
          <a:noFill/>
          <a:ln w="34925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6B1069E1-E870-D602-B3CA-A9581BB84802}"/>
              </a:ext>
            </a:extLst>
          </p:cNvPr>
          <p:cNvSpPr/>
          <p:nvPr/>
        </p:nvSpPr>
        <p:spPr>
          <a:xfrm>
            <a:off x="8192376" y="1499760"/>
            <a:ext cx="1800200" cy="4791467"/>
          </a:xfrm>
          <a:prstGeom prst="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Latch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63A4E5-D1EF-66C6-DD73-33CC87E2089E}"/>
              </a:ext>
            </a:extLst>
          </p:cNvPr>
          <p:cNvSpPr txBox="1"/>
          <p:nvPr/>
        </p:nvSpPr>
        <p:spPr>
          <a:xfrm>
            <a:off x="8598013" y="6241285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Memory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FAD8A0D-C552-407F-94F4-C6412824DBA6}"/>
              </a:ext>
            </a:extLst>
          </p:cNvPr>
          <p:cNvCxnSpPr/>
          <p:nvPr/>
        </p:nvCxnSpPr>
        <p:spPr>
          <a:xfrm>
            <a:off x="8192376" y="1930097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944300C-811E-C1F4-5B55-B36E9007722E}"/>
              </a:ext>
            </a:extLst>
          </p:cNvPr>
          <p:cNvCxnSpPr/>
          <p:nvPr/>
        </p:nvCxnSpPr>
        <p:spPr>
          <a:xfrm>
            <a:off x="8192376" y="2362145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69140E6-BB02-8C29-FCB3-F107CFB973C8}"/>
              </a:ext>
            </a:extLst>
          </p:cNvPr>
          <p:cNvCxnSpPr/>
          <p:nvPr/>
        </p:nvCxnSpPr>
        <p:spPr>
          <a:xfrm>
            <a:off x="8192376" y="2794193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7BE3D33-D282-B24D-8928-B64FF5DAE976}"/>
              </a:ext>
            </a:extLst>
          </p:cNvPr>
          <p:cNvCxnSpPr/>
          <p:nvPr/>
        </p:nvCxnSpPr>
        <p:spPr>
          <a:xfrm>
            <a:off x="8192376" y="3226241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EEBF51E-52CA-274F-7A35-787925B5ACFD}"/>
              </a:ext>
            </a:extLst>
          </p:cNvPr>
          <p:cNvCxnSpPr/>
          <p:nvPr/>
        </p:nvCxnSpPr>
        <p:spPr>
          <a:xfrm>
            <a:off x="8192376" y="3658289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D9884F6-46CE-204C-34BB-47138FA8B15C}"/>
              </a:ext>
            </a:extLst>
          </p:cNvPr>
          <p:cNvCxnSpPr/>
          <p:nvPr/>
        </p:nvCxnSpPr>
        <p:spPr>
          <a:xfrm>
            <a:off x="8192376" y="4090337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EDD5939-33B5-7AED-D73D-B2D4C8F8E2C3}"/>
              </a:ext>
            </a:extLst>
          </p:cNvPr>
          <p:cNvCxnSpPr/>
          <p:nvPr/>
        </p:nvCxnSpPr>
        <p:spPr>
          <a:xfrm>
            <a:off x="8192376" y="4522385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5CD1158-BAD4-45F3-0AE5-1DCEA6CA5882}"/>
              </a:ext>
            </a:extLst>
          </p:cNvPr>
          <p:cNvCxnSpPr/>
          <p:nvPr/>
        </p:nvCxnSpPr>
        <p:spPr>
          <a:xfrm>
            <a:off x="8192376" y="4954433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A0BBC90-7E13-5718-CA80-4B8BBA8AA63F}"/>
              </a:ext>
            </a:extLst>
          </p:cNvPr>
          <p:cNvCxnSpPr/>
          <p:nvPr/>
        </p:nvCxnSpPr>
        <p:spPr>
          <a:xfrm>
            <a:off x="8192376" y="5386481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6C75221-B4C5-02FB-F1EE-6DE82EE120A6}"/>
              </a:ext>
            </a:extLst>
          </p:cNvPr>
          <p:cNvCxnSpPr/>
          <p:nvPr/>
        </p:nvCxnSpPr>
        <p:spPr>
          <a:xfrm>
            <a:off x="8192376" y="5818529"/>
            <a:ext cx="1800200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1BAC73F-16BF-3449-0C3C-20A08AF359F7}"/>
              </a:ext>
            </a:extLst>
          </p:cNvPr>
          <p:cNvSpPr txBox="1"/>
          <p:nvPr/>
        </p:nvSpPr>
        <p:spPr>
          <a:xfrm>
            <a:off x="6427193" y="4504660"/>
            <a:ext cx="1010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Data Bus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49EBDF-536E-A8BE-8428-186B5CAC786E}"/>
              </a:ext>
            </a:extLst>
          </p:cNvPr>
          <p:cNvSpPr txBox="1"/>
          <p:nvPr/>
        </p:nvSpPr>
        <p:spPr>
          <a:xfrm>
            <a:off x="6409818" y="3851574"/>
            <a:ext cx="1322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Address Bus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A8CC418-4BF8-A693-D86A-A7CF829441A7}"/>
              </a:ext>
            </a:extLst>
          </p:cNvPr>
          <p:cNvSpPr txBox="1"/>
          <p:nvPr/>
        </p:nvSpPr>
        <p:spPr>
          <a:xfrm>
            <a:off x="9992576" y="1476264"/>
            <a:ext cx="418704" cy="488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0</a:t>
            </a:r>
          </a:p>
          <a:p>
            <a:pPr defTabSz="457200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pPr defTabSz="457200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4</a:t>
            </a:r>
          </a:p>
          <a:p>
            <a:pPr defTabSz="457200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6</a:t>
            </a:r>
          </a:p>
          <a:p>
            <a:pPr defTabSz="457200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8</a:t>
            </a:r>
          </a:p>
          <a:p>
            <a:pPr defTabSz="457200">
              <a:lnSpc>
                <a:spcPts val="36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10</a:t>
            </a:r>
          </a:p>
          <a:p>
            <a:pPr defTabSz="457200">
              <a:lnSpc>
                <a:spcPts val="36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12</a:t>
            </a:r>
          </a:p>
          <a:p>
            <a:pPr defTabSz="457200">
              <a:lnSpc>
                <a:spcPts val="36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14</a:t>
            </a:r>
          </a:p>
          <a:p>
            <a:pPr defTabSz="457200">
              <a:lnSpc>
                <a:spcPts val="36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16</a:t>
            </a:r>
          </a:p>
          <a:p>
            <a:pPr defTabSz="457200">
              <a:lnSpc>
                <a:spcPts val="36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18</a:t>
            </a:r>
          </a:p>
          <a:p>
            <a:pPr defTabSz="457200">
              <a:lnSpc>
                <a:spcPts val="3600"/>
              </a:lnSpc>
            </a:pPr>
            <a:r>
              <a:rPr lang="en-US" dirty="0">
                <a:solidFill>
                  <a:prstClr val="black"/>
                </a:solidFill>
                <a:latin typeface="Calibri"/>
              </a:rPr>
              <a:t>20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BC90BD1-A4D3-5AD1-0014-7BF729D9FABB}"/>
              </a:ext>
            </a:extLst>
          </p:cNvPr>
          <p:cNvCxnSpPr/>
          <p:nvPr/>
        </p:nvCxnSpPr>
        <p:spPr>
          <a:xfrm flipH="1">
            <a:off x="6176069" y="4637373"/>
            <a:ext cx="216107" cy="338554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A723AD8-0C04-2FE2-AE6A-C3CA7D00BDC8}"/>
              </a:ext>
            </a:extLst>
          </p:cNvPr>
          <p:cNvCxnSpPr/>
          <p:nvPr/>
        </p:nvCxnSpPr>
        <p:spPr>
          <a:xfrm flipH="1">
            <a:off x="7537001" y="4008858"/>
            <a:ext cx="216107" cy="338554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1347BE6-0AD9-EA15-466F-0B25343B116E}"/>
              </a:ext>
            </a:extLst>
          </p:cNvPr>
          <p:cNvSpPr txBox="1"/>
          <p:nvPr/>
        </p:nvSpPr>
        <p:spPr>
          <a:xfrm>
            <a:off x="3462749" y="595780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CPU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FE0CE6-3C6E-E15D-E83E-53D4C21D64FE}"/>
              </a:ext>
            </a:extLst>
          </p:cNvPr>
          <p:cNvSpPr txBox="1"/>
          <p:nvPr/>
        </p:nvSpPr>
        <p:spPr>
          <a:xfrm>
            <a:off x="8283390" y="1531140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0</a:t>
            </a:r>
            <a:r>
              <a:rPr lang="en-US" sz="1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20H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EF969AD-25F8-1498-2AA6-A23FFDDDD51C}"/>
              </a:ext>
            </a:extLst>
          </p:cNvPr>
          <p:cNvSpPr txBox="1"/>
          <p:nvPr/>
        </p:nvSpPr>
        <p:spPr>
          <a:xfrm>
            <a:off x="8283390" y="1956540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0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30H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0755CE-CFA6-2FA9-6922-D5808AEF24D6}"/>
              </a:ext>
            </a:extLst>
          </p:cNvPr>
          <p:cNvSpPr txBox="1"/>
          <p:nvPr/>
        </p:nvSpPr>
        <p:spPr>
          <a:xfrm>
            <a:off x="8264384" y="2424861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02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0H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5323E13-EEC3-585E-F48B-1217DE06695F}"/>
              </a:ext>
            </a:extLst>
          </p:cNvPr>
          <p:cNvSpPr txBox="1"/>
          <p:nvPr/>
        </p:nvSpPr>
        <p:spPr>
          <a:xfrm>
            <a:off x="8264384" y="2856909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03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0H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B81D16-B43C-74FB-7E56-43E062B21854}"/>
              </a:ext>
            </a:extLst>
          </p:cNvPr>
          <p:cNvSpPr txBox="1"/>
          <p:nvPr/>
        </p:nvSpPr>
        <p:spPr>
          <a:xfrm>
            <a:off x="8264384" y="3288957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</a:t>
            </a:r>
            <a:r>
              <a:rPr lang="en-US" sz="1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00H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EE56142-3800-3BAD-23BE-7EF3B0B6BC3F}"/>
              </a:ext>
            </a:extLst>
          </p:cNvPr>
          <p:cNvSpPr txBox="1"/>
          <p:nvPr/>
        </p:nvSpPr>
        <p:spPr>
          <a:xfrm>
            <a:off x="8264384" y="3721005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</a:t>
            </a:r>
            <a:r>
              <a:rPr lang="en-US" sz="1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01H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6F5263-A569-9306-3684-BE824BF7D429}"/>
              </a:ext>
            </a:extLst>
          </p:cNvPr>
          <p:cNvSpPr txBox="1"/>
          <p:nvPr/>
        </p:nvSpPr>
        <p:spPr>
          <a:xfrm>
            <a:off x="8264384" y="4153053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2</a:t>
            </a:r>
            <a:r>
              <a:rPr lang="en-US" sz="18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XXH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A145DB-9FB0-48D1-45BF-4BB55AA1C296}"/>
              </a:ext>
            </a:extLst>
          </p:cNvPr>
          <p:cNvSpPr txBox="1"/>
          <p:nvPr/>
        </p:nvSpPr>
        <p:spPr>
          <a:xfrm>
            <a:off x="8264384" y="4585101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      XXXX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A6C4A0-3BAA-66E9-DD61-1337C7C5ED17}"/>
              </a:ext>
            </a:extLst>
          </p:cNvPr>
          <p:cNvSpPr txBox="1"/>
          <p:nvPr/>
        </p:nvSpPr>
        <p:spPr>
          <a:xfrm>
            <a:off x="8264384" y="5017149"/>
            <a:ext cx="1709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      XXXX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65994A4-E49D-0656-5D5D-3D53FE92A874}"/>
              </a:ext>
            </a:extLst>
          </p:cNvPr>
          <p:cNvSpPr txBox="1"/>
          <p:nvPr/>
        </p:nvSpPr>
        <p:spPr>
          <a:xfrm>
            <a:off x="8598013" y="5440199"/>
            <a:ext cx="741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XXXX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C97241-E0FF-586A-2CDF-822FB690FAF2}"/>
              </a:ext>
            </a:extLst>
          </p:cNvPr>
          <p:cNvSpPr txBox="1"/>
          <p:nvPr/>
        </p:nvSpPr>
        <p:spPr>
          <a:xfrm>
            <a:off x="8598013" y="5863249"/>
            <a:ext cx="73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XXXX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0E29271-5E4D-ECF1-E411-64D39B314F7A}"/>
              </a:ext>
            </a:extLst>
          </p:cNvPr>
          <p:cNvCxnSpPr/>
          <p:nvPr/>
        </p:nvCxnSpPr>
        <p:spPr>
          <a:xfrm>
            <a:off x="2385128" y="2662877"/>
            <a:ext cx="1661512" cy="0"/>
          </a:xfrm>
          <a:prstGeom prst="line">
            <a:avLst/>
          </a:prstGeom>
          <a:noFill/>
          <a:ln w="25400" cap="flat" cmpd="sng" algn="ctr">
            <a:solidFill>
              <a:srgbClr val="1F497D">
                <a:lumMod val="20000"/>
                <a:lumOff val="80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8022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1F6B-AD3B-BAFB-5363-85A4657C9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357270F-9B6B-A1F0-D54F-F31A462A4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3C7FA-EC57-F871-2195-7E0EDBE9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Programming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4293C2B-180A-0D42-8900-A70A8EE07D63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Remember the configuration options that we discussed in the introduction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F5309F-7E6F-C85B-5F5D-FA0888F3E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084937"/>
              </p:ext>
            </p:extLst>
          </p:nvPr>
        </p:nvGraphicFramePr>
        <p:xfrm>
          <a:off x="2344151" y="2168458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E40744-AC59-FDC9-07DE-3319AFBF7AA2}"/>
              </a:ext>
            </a:extLst>
          </p:cNvPr>
          <p:cNvCxnSpPr/>
          <p:nvPr/>
        </p:nvCxnSpPr>
        <p:spPr>
          <a:xfrm>
            <a:off x="909051" y="2665492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7C128D1-A8CD-90F0-72A7-3276956E966B}"/>
              </a:ext>
            </a:extLst>
          </p:cNvPr>
          <p:cNvCxnSpPr/>
          <p:nvPr/>
        </p:nvCxnSpPr>
        <p:spPr>
          <a:xfrm>
            <a:off x="909051" y="3249692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D571BB-0471-5056-D2FB-F97FDF1F963C}"/>
              </a:ext>
            </a:extLst>
          </p:cNvPr>
          <p:cNvCxnSpPr/>
          <p:nvPr/>
        </p:nvCxnSpPr>
        <p:spPr>
          <a:xfrm>
            <a:off x="4249151" y="2910138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6598BA-1550-8B4B-6DAA-959C5A844700}"/>
              </a:ext>
            </a:extLst>
          </p:cNvPr>
          <p:cNvSpPr txBox="1"/>
          <p:nvPr/>
        </p:nvSpPr>
        <p:spPr>
          <a:xfrm>
            <a:off x="543474" y="245283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7B682-5F89-124C-FD62-1AD5E9E6D7AB}"/>
              </a:ext>
            </a:extLst>
          </p:cNvPr>
          <p:cNvSpPr txBox="1"/>
          <p:nvPr/>
        </p:nvSpPr>
        <p:spPr>
          <a:xfrm>
            <a:off x="543474" y="303482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E12297-1897-5F91-41B5-E717B2BDD20B}"/>
              </a:ext>
            </a:extLst>
          </p:cNvPr>
          <p:cNvSpPr txBox="1"/>
          <p:nvPr/>
        </p:nvSpPr>
        <p:spPr>
          <a:xfrm>
            <a:off x="5646151" y="270359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D3C2D8-BD44-1D6C-B371-F4010D358540}"/>
              </a:ext>
            </a:extLst>
          </p:cNvPr>
          <p:cNvGrpSpPr/>
          <p:nvPr/>
        </p:nvGrpSpPr>
        <p:grpSpPr>
          <a:xfrm>
            <a:off x="6422404" y="2241988"/>
            <a:ext cx="5226122" cy="1130300"/>
            <a:chOff x="2051050" y="4013200"/>
            <a:chExt cx="7913413" cy="20447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A487FF-0D91-9A56-5CC2-EB8A048E9664}"/>
                </a:ext>
              </a:extLst>
            </p:cNvPr>
            <p:cNvSpPr/>
            <p:nvPr/>
          </p:nvSpPr>
          <p:spPr>
            <a:xfrm>
              <a:off x="3505200" y="4013200"/>
              <a:ext cx="1460500" cy="2044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LUT</a:t>
              </a:r>
              <a:endParaRPr lang="en-IN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9816A61-77A5-5ACD-1D4E-99173651D8A7}"/>
                </a:ext>
              </a:extLst>
            </p:cNvPr>
            <p:cNvCxnSpPr/>
            <p:nvPr/>
          </p:nvCxnSpPr>
          <p:spPr>
            <a:xfrm>
              <a:off x="2057400" y="45339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788DFC9-1B07-E24E-41F9-15145FAC5ABE}"/>
                </a:ext>
              </a:extLst>
            </p:cNvPr>
            <p:cNvCxnSpPr/>
            <p:nvPr/>
          </p:nvCxnSpPr>
          <p:spPr>
            <a:xfrm>
              <a:off x="2057400" y="48006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92C06A4-FFBE-A0F6-0DA5-E75DF3DEC032}"/>
                </a:ext>
              </a:extLst>
            </p:cNvPr>
            <p:cNvCxnSpPr/>
            <p:nvPr/>
          </p:nvCxnSpPr>
          <p:spPr>
            <a:xfrm>
              <a:off x="2063750" y="50419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008CD2A-455C-F817-BACF-F5F50CEC6D00}"/>
                </a:ext>
              </a:extLst>
            </p:cNvPr>
            <p:cNvCxnSpPr/>
            <p:nvPr/>
          </p:nvCxnSpPr>
          <p:spPr>
            <a:xfrm>
              <a:off x="2051050" y="52832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CE6632B-A382-6822-4597-13049C63519B}"/>
                </a:ext>
              </a:extLst>
            </p:cNvPr>
            <p:cNvCxnSpPr/>
            <p:nvPr/>
          </p:nvCxnSpPr>
          <p:spPr>
            <a:xfrm>
              <a:off x="4965700" y="4999388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449200-9B53-B04A-5E63-EB43E0F90816}"/>
                </a:ext>
              </a:extLst>
            </p:cNvPr>
            <p:cNvSpPr/>
            <p:nvPr/>
          </p:nvSpPr>
          <p:spPr>
            <a:xfrm>
              <a:off x="6407150" y="4374811"/>
              <a:ext cx="1003300" cy="138429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FF</a:t>
              </a:r>
              <a:endParaRPr lang="en-IN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E016A8F-2FAC-D544-2F3E-3A01D8E3B12E}"/>
                </a:ext>
              </a:extLst>
            </p:cNvPr>
            <p:cNvCxnSpPr/>
            <p:nvPr/>
          </p:nvCxnSpPr>
          <p:spPr>
            <a:xfrm>
              <a:off x="7410450" y="4999388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D4A6440-25A9-1C1E-651A-14D7D116979F}"/>
                </a:ext>
              </a:extLst>
            </p:cNvPr>
            <p:cNvCxnSpPr>
              <a:cxnSpLocks/>
            </p:cNvCxnSpPr>
            <p:nvPr/>
          </p:nvCxnSpPr>
          <p:spPr>
            <a:xfrm>
              <a:off x="8134350" y="4745209"/>
              <a:ext cx="7239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0AE9E10-3E21-A5B1-2DA1-FD245247F5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8310" y="4231640"/>
              <a:ext cx="0" cy="767748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7F67DAB-C888-C411-4FFF-D763914A7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8310" y="4231640"/>
              <a:ext cx="2606040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003EBB4-8FB2-C4FF-0923-9BABD68E5A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0" y="4225290"/>
              <a:ext cx="0" cy="519919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DFC543-B48F-36E8-C245-466901A72B5E}"/>
                </a:ext>
              </a:extLst>
            </p:cNvPr>
            <p:cNvCxnSpPr/>
            <p:nvPr/>
          </p:nvCxnSpPr>
          <p:spPr>
            <a:xfrm>
              <a:off x="8858250" y="4425611"/>
              <a:ext cx="0" cy="9083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ED44748-7395-59AE-9DF7-0C0ECF6E3607}"/>
                </a:ext>
              </a:extLst>
            </p:cNvPr>
            <p:cNvCxnSpPr>
              <a:cxnSpLocks/>
            </p:cNvCxnSpPr>
            <p:nvPr/>
          </p:nvCxnSpPr>
          <p:spPr>
            <a:xfrm>
              <a:off x="9188450" y="4584700"/>
              <a:ext cx="0" cy="6223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89EA0D-A228-CED1-96E9-36591B3BB7A2}"/>
                </a:ext>
              </a:extLst>
            </p:cNvPr>
            <p:cNvCxnSpPr>
              <a:cxnSpLocks/>
            </p:cNvCxnSpPr>
            <p:nvPr/>
          </p:nvCxnSpPr>
          <p:spPr>
            <a:xfrm>
              <a:off x="8851900" y="4425950"/>
              <a:ext cx="336550" cy="15875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0D55BD4-F990-ADF3-1AFF-04D23F28E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8251" y="5201629"/>
              <a:ext cx="330199" cy="1270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B78B022-CADB-5F28-E4FA-73921C2D0767}"/>
                </a:ext>
              </a:extLst>
            </p:cNvPr>
            <p:cNvCxnSpPr>
              <a:cxnSpLocks/>
            </p:cNvCxnSpPr>
            <p:nvPr/>
          </p:nvCxnSpPr>
          <p:spPr>
            <a:xfrm>
              <a:off x="9188450" y="4879805"/>
              <a:ext cx="7239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E3B760-41F7-5A29-0C6C-5A177EE60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0175" y="5265129"/>
              <a:ext cx="0" cy="72690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4027C6-4DA2-B039-9799-D7A7C2769118}"/>
                </a:ext>
              </a:extLst>
            </p:cNvPr>
            <p:cNvSpPr txBox="1"/>
            <p:nvPr/>
          </p:nvSpPr>
          <p:spPr>
            <a:xfrm>
              <a:off x="9645145" y="4560543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</a:t>
              </a:r>
              <a:endParaRPr lang="en-IN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BC962CE-153A-B7B0-EB34-E059F57A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29" y="4034978"/>
            <a:ext cx="4867781" cy="271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0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2F81D-160C-7528-E4E4-66D59573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EB5E20B-7987-DC3B-9346-F35BCEE1A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6AF8A-2FDE-F855-D234-CB587F54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Bitstreams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51159AD-EDCD-2811-F460-F7617BD3D11C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An FPGA </a:t>
            </a:r>
            <a:r>
              <a:rPr lang="en-US" sz="2800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program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contains all these configuration bits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This program is often called a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bitstream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or a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bitfile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Conceptually you can think the FPGA is composed of 2 layers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One layer implementing all LUTs, FFs, SBs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etc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called logic layer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Another layer which stores all the configuration bits called the configuration memory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These two layers are connected and the behavior of logic layer is controlled by the configuration memory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800" i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F6DD9DA-D0DE-E208-BB27-5DBCEF2A0EC9}"/>
              </a:ext>
            </a:extLst>
          </p:cNvPr>
          <p:cNvSpPr>
            <a:spLocks noGrp="1"/>
          </p:cNvSpPr>
          <p:nvPr/>
        </p:nvSpPr>
        <p:spPr bwMode="auto">
          <a:xfrm>
            <a:off x="2209800" y="808994"/>
            <a:ext cx="7772400" cy="464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262626"/>
                </a:solidFill>
                <a:latin typeface="Helvetica Neue Light"/>
                <a:ea typeface="ＭＳ Ｐゴシック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262626"/>
                </a:solidFill>
                <a:latin typeface="Helvetica Neue Light"/>
                <a:ea typeface="ＭＳ Ｐゴシック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62626"/>
                </a:solidFill>
                <a:latin typeface="Helvetica Neue Light"/>
                <a:ea typeface="ＭＳ Ｐゴシック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9pPr>
          </a:lstStyle>
          <a:p>
            <a:pPr algn="just">
              <a:lnSpc>
                <a:spcPct val="150000"/>
              </a:lnSpc>
              <a:defRPr/>
            </a:pPr>
            <a:endParaRPr lang="en-GB" sz="2000" kern="12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52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6E1D-E7A3-2BC2-8175-1105FFA9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E21293-FA51-6F4B-1038-6D35BDFA2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1CE6C-77AA-BC54-E6B7-5727C0F5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Configuration Memory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46D4EFDF-2AEC-F15F-2131-BA58FE5DED51}"/>
              </a:ext>
            </a:extLst>
          </p:cNvPr>
          <p:cNvSpPr>
            <a:spLocks noGrp="1"/>
          </p:cNvSpPr>
          <p:nvPr/>
        </p:nvSpPr>
        <p:spPr bwMode="auto">
          <a:xfrm>
            <a:off x="2209800" y="808994"/>
            <a:ext cx="7772400" cy="464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262626"/>
                </a:solidFill>
                <a:latin typeface="Helvetica Neue Light"/>
                <a:ea typeface="ＭＳ Ｐゴシック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262626"/>
                </a:solidFill>
                <a:latin typeface="Helvetica Neue Light"/>
                <a:ea typeface="ＭＳ Ｐゴシック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62626"/>
                </a:solidFill>
                <a:latin typeface="Helvetica Neue Light"/>
                <a:ea typeface="ＭＳ Ｐゴシック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9pPr>
          </a:lstStyle>
          <a:p>
            <a:pPr algn="just">
              <a:lnSpc>
                <a:spcPct val="150000"/>
              </a:lnSpc>
              <a:defRPr/>
            </a:pPr>
            <a:endParaRPr lang="en-GB" sz="2000" kern="1200" dirty="0">
              <a:cs typeface="Arial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325555-8DBD-17E3-F801-EA7E4561ED45}"/>
              </a:ext>
            </a:extLst>
          </p:cNvPr>
          <p:cNvGrpSpPr/>
          <p:nvPr/>
        </p:nvGrpSpPr>
        <p:grpSpPr>
          <a:xfrm>
            <a:off x="2066903" y="1345098"/>
            <a:ext cx="7962610" cy="1592284"/>
            <a:chOff x="2066903" y="1345098"/>
            <a:chExt cx="7962610" cy="1592284"/>
          </a:xfrm>
        </p:grpSpPr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C1B2D94A-DFBD-8C74-6251-4D7F92F3367C}"/>
                </a:ext>
              </a:extLst>
            </p:cNvPr>
            <p:cNvSpPr/>
            <p:nvPr/>
          </p:nvSpPr>
          <p:spPr bwMode="auto">
            <a:xfrm>
              <a:off x="2066903" y="1826132"/>
              <a:ext cx="6227160" cy="1111250"/>
            </a:xfrm>
            <a:prstGeom prst="parallelogram">
              <a:avLst>
                <a:gd name="adj" fmla="val 203313"/>
              </a:avLst>
            </a:prstGeom>
            <a:solidFill>
              <a:schemeClr val="accent2">
                <a:lumMod val="40000"/>
                <a:lumOff val="60000"/>
                <a:alpha val="69000"/>
              </a:schemeClr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2400" b="0" i="0" u="none" strike="noStrike" cap="none" normalizeH="0" baseline="-25000">
                <a:ln>
                  <a:noFill/>
                </a:ln>
                <a:solidFill>
                  <a:srgbClr val="262626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DA3DD834-8453-234E-77EA-D0314EAC0E94}"/>
                </a:ext>
              </a:extLst>
            </p:cNvPr>
            <p:cNvSpPr/>
            <p:nvPr/>
          </p:nvSpPr>
          <p:spPr bwMode="auto">
            <a:xfrm>
              <a:off x="2183829" y="1442729"/>
              <a:ext cx="6227160" cy="1111250"/>
            </a:xfrm>
            <a:prstGeom prst="parallelogram">
              <a:avLst>
                <a:gd name="adj" fmla="val 203313"/>
              </a:avLst>
            </a:prstGeom>
            <a:solidFill>
              <a:srgbClr val="006600">
                <a:alpha val="61000"/>
              </a:srgbClr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2400" b="0" i="0" u="none" strike="noStrike" cap="none" normalizeH="0" baseline="-25000">
                <a:ln>
                  <a:noFill/>
                </a:ln>
                <a:solidFill>
                  <a:srgbClr val="262626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7FA286C-3E1B-44E9-1BD1-E63A112BE35E}"/>
                </a:ext>
              </a:extLst>
            </p:cNvPr>
            <p:cNvCxnSpPr>
              <a:stCxn id="81" idx="2"/>
              <a:endCxn id="99" idx="5"/>
            </p:cNvCxnSpPr>
            <p:nvPr/>
          </p:nvCxnSpPr>
          <p:spPr bwMode="auto">
            <a:xfrm>
              <a:off x="4679845" y="1643562"/>
              <a:ext cx="2618610" cy="18627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0D2BA83-46E3-09AE-34F0-7E94A943FE4D}"/>
                </a:ext>
              </a:extLst>
            </p:cNvPr>
            <p:cNvCxnSpPr/>
            <p:nvPr/>
          </p:nvCxnSpPr>
          <p:spPr bwMode="auto">
            <a:xfrm>
              <a:off x="4547859" y="1699394"/>
              <a:ext cx="2618610" cy="18627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71FA294-5962-A28C-9F18-0AE2492C8D1F}"/>
                </a:ext>
              </a:extLst>
            </p:cNvPr>
            <p:cNvCxnSpPr/>
            <p:nvPr/>
          </p:nvCxnSpPr>
          <p:spPr bwMode="auto">
            <a:xfrm>
              <a:off x="4240572" y="1853127"/>
              <a:ext cx="2618610" cy="18627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C89F414-80B7-E715-2150-7181465B2EC9}"/>
                </a:ext>
              </a:extLst>
            </p:cNvPr>
            <p:cNvCxnSpPr/>
            <p:nvPr/>
          </p:nvCxnSpPr>
          <p:spPr bwMode="auto">
            <a:xfrm>
              <a:off x="4108586" y="1908959"/>
              <a:ext cx="2618610" cy="18627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5D4D32F-9E11-5239-8C6D-6AD962FA538B}"/>
                </a:ext>
              </a:extLst>
            </p:cNvPr>
            <p:cNvCxnSpPr/>
            <p:nvPr/>
          </p:nvCxnSpPr>
          <p:spPr bwMode="auto">
            <a:xfrm>
              <a:off x="3739464" y="2096214"/>
              <a:ext cx="2660133" cy="33923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94AADB1-CE12-FA3B-054E-138EE2D44C03}"/>
                </a:ext>
              </a:extLst>
            </p:cNvPr>
            <p:cNvCxnSpPr/>
            <p:nvPr/>
          </p:nvCxnSpPr>
          <p:spPr bwMode="auto">
            <a:xfrm>
              <a:off x="3597940" y="2166335"/>
              <a:ext cx="2662472" cy="35026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457B1F4-FB02-86E0-0C54-FA2CC259DB5F}"/>
                </a:ext>
              </a:extLst>
            </p:cNvPr>
            <p:cNvCxnSpPr/>
            <p:nvPr/>
          </p:nvCxnSpPr>
          <p:spPr bwMode="auto">
            <a:xfrm>
              <a:off x="3195826" y="2361957"/>
              <a:ext cx="2740737" cy="33923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5DFE8EA-3DBE-784E-3E28-F7E51E37CBD5}"/>
                </a:ext>
              </a:extLst>
            </p:cNvPr>
            <p:cNvCxnSpPr/>
            <p:nvPr/>
          </p:nvCxnSpPr>
          <p:spPr bwMode="auto">
            <a:xfrm>
              <a:off x="3054266" y="2432078"/>
              <a:ext cx="2743148" cy="35026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62A93EC-3F7C-52F7-45D7-D249FC913690}"/>
                </a:ext>
              </a:extLst>
            </p:cNvPr>
            <p:cNvGrpSpPr/>
            <p:nvPr/>
          </p:nvGrpSpPr>
          <p:grpSpPr>
            <a:xfrm>
              <a:off x="2573518" y="1556627"/>
              <a:ext cx="5299507" cy="941279"/>
              <a:chOff x="2102602" y="5028798"/>
              <a:chExt cx="5299507" cy="941279"/>
            </a:xfrm>
          </p:grpSpPr>
          <p:sp>
            <p:nvSpPr>
              <p:cNvPr id="80" name="Parallelogram 79">
                <a:extLst>
                  <a:ext uri="{FF2B5EF4-FFF2-40B4-BE49-F238E27FC236}">
                    <a16:creationId xmlns:a16="http://schemas.microsoft.com/office/drawing/2014/main" id="{27B14A01-5EC6-434F-50C6-699E45DB09B1}"/>
                  </a:ext>
                </a:extLst>
              </p:cNvPr>
              <p:cNvSpPr/>
              <p:nvPr/>
            </p:nvSpPr>
            <p:spPr bwMode="auto">
              <a:xfrm>
                <a:off x="2102602" y="5783221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1" name="Parallelogram 80">
                <a:extLst>
                  <a:ext uri="{FF2B5EF4-FFF2-40B4-BE49-F238E27FC236}">
                    <a16:creationId xmlns:a16="http://schemas.microsoft.com/office/drawing/2014/main" id="{BF9A7767-4C42-40B8-5448-60612A274676}"/>
                  </a:ext>
                </a:extLst>
              </p:cNvPr>
              <p:cNvSpPr/>
              <p:nvPr/>
            </p:nvSpPr>
            <p:spPr bwMode="auto">
              <a:xfrm>
                <a:off x="3640903" y="5028798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2" name="Parallelogram 81">
                <a:extLst>
                  <a:ext uri="{FF2B5EF4-FFF2-40B4-BE49-F238E27FC236}">
                    <a16:creationId xmlns:a16="http://schemas.microsoft.com/office/drawing/2014/main" id="{682084CC-DA85-65E3-A4C6-E47222B56A57}"/>
                  </a:ext>
                </a:extLst>
              </p:cNvPr>
              <p:cNvSpPr/>
              <p:nvPr/>
            </p:nvSpPr>
            <p:spPr bwMode="auto">
              <a:xfrm>
                <a:off x="2912227" y="5774995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3" name="Parallelogram 82">
                <a:extLst>
                  <a:ext uri="{FF2B5EF4-FFF2-40B4-BE49-F238E27FC236}">
                    <a16:creationId xmlns:a16="http://schemas.microsoft.com/office/drawing/2014/main" id="{6506498B-BB23-1DD0-CC67-5A6D50F768FC}"/>
                  </a:ext>
                </a:extLst>
              </p:cNvPr>
              <p:cNvSpPr/>
              <p:nvPr/>
            </p:nvSpPr>
            <p:spPr bwMode="auto">
              <a:xfrm>
                <a:off x="3377251" y="5517779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4" name="Parallelogram 83">
                <a:extLst>
                  <a:ext uri="{FF2B5EF4-FFF2-40B4-BE49-F238E27FC236}">
                    <a16:creationId xmlns:a16="http://schemas.microsoft.com/office/drawing/2014/main" id="{B56433E0-E400-3C2F-3AA8-C85959B7A252}"/>
                  </a:ext>
                </a:extLst>
              </p:cNvPr>
              <p:cNvSpPr/>
              <p:nvPr/>
            </p:nvSpPr>
            <p:spPr bwMode="auto">
              <a:xfrm>
                <a:off x="3765457" y="5778214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5" name="Parallelogram 84">
                <a:extLst>
                  <a:ext uri="{FF2B5EF4-FFF2-40B4-BE49-F238E27FC236}">
                    <a16:creationId xmlns:a16="http://schemas.microsoft.com/office/drawing/2014/main" id="{0986CA6F-9EB1-3377-489B-0B8E3C8A8716}"/>
                  </a:ext>
                </a:extLst>
              </p:cNvPr>
              <p:cNvSpPr/>
              <p:nvPr/>
            </p:nvSpPr>
            <p:spPr bwMode="auto">
              <a:xfrm>
                <a:off x="4577374" y="5313914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6" name="Parallelogram 85">
                <a:extLst>
                  <a:ext uri="{FF2B5EF4-FFF2-40B4-BE49-F238E27FC236}">
                    <a16:creationId xmlns:a16="http://schemas.microsoft.com/office/drawing/2014/main" id="{9DDB9907-C0EA-4907-2B4B-0B9BE7C1B68E}"/>
                  </a:ext>
                </a:extLst>
              </p:cNvPr>
              <p:cNvSpPr/>
              <p:nvPr/>
            </p:nvSpPr>
            <p:spPr bwMode="auto">
              <a:xfrm>
                <a:off x="4581409" y="5800252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7" name="Parallelogram 86">
                <a:extLst>
                  <a:ext uri="{FF2B5EF4-FFF2-40B4-BE49-F238E27FC236}">
                    <a16:creationId xmlns:a16="http://schemas.microsoft.com/office/drawing/2014/main" id="{7CC31D05-5745-02A5-CAF4-C93242E75A87}"/>
                  </a:ext>
                </a:extLst>
              </p:cNvPr>
              <p:cNvSpPr/>
              <p:nvPr/>
            </p:nvSpPr>
            <p:spPr bwMode="auto">
              <a:xfrm>
                <a:off x="5031540" y="5532881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8" name="Parallelogram 87">
                <a:extLst>
                  <a:ext uri="{FF2B5EF4-FFF2-40B4-BE49-F238E27FC236}">
                    <a16:creationId xmlns:a16="http://schemas.microsoft.com/office/drawing/2014/main" id="{0A78EE71-3D25-E4B4-3BF7-51794694C557}"/>
                  </a:ext>
                </a:extLst>
              </p:cNvPr>
              <p:cNvSpPr/>
              <p:nvPr/>
            </p:nvSpPr>
            <p:spPr bwMode="auto">
              <a:xfrm>
                <a:off x="3142557" y="5267279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89" name="Parallelogram 88">
                <a:extLst>
                  <a:ext uri="{FF2B5EF4-FFF2-40B4-BE49-F238E27FC236}">
                    <a16:creationId xmlns:a16="http://schemas.microsoft.com/office/drawing/2014/main" id="{F3FAB63B-DBE4-9B2D-3B93-B837B1A911BD}"/>
                  </a:ext>
                </a:extLst>
              </p:cNvPr>
              <p:cNvSpPr/>
              <p:nvPr/>
            </p:nvSpPr>
            <p:spPr bwMode="auto">
              <a:xfrm>
                <a:off x="2636606" y="5517779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836F40AE-749C-2FBD-702B-3C41E6067F4F}"/>
                  </a:ext>
                </a:extLst>
              </p:cNvPr>
              <p:cNvSpPr/>
              <p:nvPr/>
            </p:nvSpPr>
            <p:spPr bwMode="auto">
              <a:xfrm>
                <a:off x="3864412" y="5291136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1" name="Parallelogram 90">
                <a:extLst>
                  <a:ext uri="{FF2B5EF4-FFF2-40B4-BE49-F238E27FC236}">
                    <a16:creationId xmlns:a16="http://schemas.microsoft.com/office/drawing/2014/main" id="{04932FFF-59C5-79A1-425E-B44EBBBE0870}"/>
                  </a:ext>
                </a:extLst>
              </p:cNvPr>
              <p:cNvSpPr/>
              <p:nvPr/>
            </p:nvSpPr>
            <p:spPr bwMode="auto">
              <a:xfrm>
                <a:off x="4351573" y="5064493"/>
                <a:ext cx="744776" cy="173870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2" name="Parallelogram 91">
                <a:extLst>
                  <a:ext uri="{FF2B5EF4-FFF2-40B4-BE49-F238E27FC236}">
                    <a16:creationId xmlns:a16="http://schemas.microsoft.com/office/drawing/2014/main" id="{F32AA3B2-E98A-A6F8-212C-C2D5B19793DD}"/>
                  </a:ext>
                </a:extLst>
              </p:cNvPr>
              <p:cNvSpPr/>
              <p:nvPr/>
            </p:nvSpPr>
            <p:spPr bwMode="auto">
              <a:xfrm>
                <a:off x="4136630" y="5549499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3" name="Parallelogram 92">
                <a:extLst>
                  <a:ext uri="{FF2B5EF4-FFF2-40B4-BE49-F238E27FC236}">
                    <a16:creationId xmlns:a16="http://schemas.microsoft.com/office/drawing/2014/main" id="{03BA943D-E5CA-F7C5-243D-1BFA7CBD2B40}"/>
                  </a:ext>
                </a:extLst>
              </p:cNvPr>
              <p:cNvSpPr/>
              <p:nvPr/>
            </p:nvSpPr>
            <p:spPr bwMode="auto">
              <a:xfrm>
                <a:off x="5117817" y="5075044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4" name="Parallelogram 93">
                <a:extLst>
                  <a:ext uri="{FF2B5EF4-FFF2-40B4-BE49-F238E27FC236}">
                    <a16:creationId xmlns:a16="http://schemas.microsoft.com/office/drawing/2014/main" id="{352D77BF-888C-2361-8FF3-38BCDDF4DCFD}"/>
                  </a:ext>
                </a:extLst>
              </p:cNvPr>
              <p:cNvSpPr/>
              <p:nvPr/>
            </p:nvSpPr>
            <p:spPr bwMode="auto">
              <a:xfrm>
                <a:off x="5431750" y="5294225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5" name="Parallelogram 94">
                <a:extLst>
                  <a:ext uri="{FF2B5EF4-FFF2-40B4-BE49-F238E27FC236}">
                    <a16:creationId xmlns:a16="http://schemas.microsoft.com/office/drawing/2014/main" id="{7902A96A-26BB-C952-7014-035BB653E5A8}"/>
                  </a:ext>
                </a:extLst>
              </p:cNvPr>
              <p:cNvSpPr/>
              <p:nvPr/>
            </p:nvSpPr>
            <p:spPr bwMode="auto">
              <a:xfrm>
                <a:off x="5941281" y="5066260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6" name="Parallelogram 95">
                <a:extLst>
                  <a:ext uri="{FF2B5EF4-FFF2-40B4-BE49-F238E27FC236}">
                    <a16:creationId xmlns:a16="http://schemas.microsoft.com/office/drawing/2014/main" id="{47629CDF-1F40-2930-107D-F492FC7D468E}"/>
                  </a:ext>
                </a:extLst>
              </p:cNvPr>
              <p:cNvSpPr/>
              <p:nvPr/>
            </p:nvSpPr>
            <p:spPr bwMode="auto">
              <a:xfrm>
                <a:off x="5259634" y="5802645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7" name="Parallelogram 96">
                <a:extLst>
                  <a:ext uri="{FF2B5EF4-FFF2-40B4-BE49-F238E27FC236}">
                    <a16:creationId xmlns:a16="http://schemas.microsoft.com/office/drawing/2014/main" id="{6686C98C-D205-C17C-AFE2-B66681D4868B}"/>
                  </a:ext>
                </a:extLst>
              </p:cNvPr>
              <p:cNvSpPr/>
              <p:nvPr/>
            </p:nvSpPr>
            <p:spPr bwMode="auto">
              <a:xfrm>
                <a:off x="5735780" y="5532881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8" name="Parallelogram 97">
                <a:extLst>
                  <a:ext uri="{FF2B5EF4-FFF2-40B4-BE49-F238E27FC236}">
                    <a16:creationId xmlns:a16="http://schemas.microsoft.com/office/drawing/2014/main" id="{714D7E5B-F07C-D457-2C3A-718BCF74622B}"/>
                  </a:ext>
                </a:extLst>
              </p:cNvPr>
              <p:cNvSpPr/>
              <p:nvPr/>
            </p:nvSpPr>
            <p:spPr bwMode="auto">
              <a:xfrm>
                <a:off x="6163307" y="5285767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99" name="Parallelogram 98">
                <a:extLst>
                  <a:ext uri="{FF2B5EF4-FFF2-40B4-BE49-F238E27FC236}">
                    <a16:creationId xmlns:a16="http://schemas.microsoft.com/office/drawing/2014/main" id="{75AA250A-FECB-6C9B-2FA5-92B8A376A514}"/>
                  </a:ext>
                </a:extLst>
              </p:cNvPr>
              <p:cNvSpPr/>
              <p:nvPr/>
            </p:nvSpPr>
            <p:spPr bwMode="auto">
              <a:xfrm>
                <a:off x="6657333" y="5050644"/>
                <a:ext cx="744776" cy="167432"/>
              </a:xfrm>
              <a:prstGeom prst="parallelogram">
                <a:avLst>
                  <a:gd name="adj" fmla="val 203313"/>
                </a:avLst>
              </a:prstGeom>
              <a:solidFill>
                <a:srgbClr val="FFFF00"/>
              </a:solidFill>
              <a:ln w="19050" cap="flat" cmpd="sng" algn="ctr">
                <a:solidFill>
                  <a:srgbClr val="26262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2860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7432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2004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657600" algn="l" defTabSz="914400" rtl="0" eaLnBrk="1" latinLnBrk="0" hangingPunct="1">
                  <a:defRPr sz="2400" kern="1200" baseline="-25000">
                    <a:solidFill>
                      <a:srgbClr val="262626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rgbClr val="262626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DCF310D-99DB-F32C-AA38-4E1E80C49030}"/>
                </a:ext>
              </a:extLst>
            </p:cNvPr>
            <p:cNvCxnSpPr/>
            <p:nvPr/>
          </p:nvCxnSpPr>
          <p:spPr bwMode="auto">
            <a:xfrm>
              <a:off x="8409408" y="1449624"/>
              <a:ext cx="0" cy="61913"/>
            </a:xfrm>
            <a:prstGeom prst="line">
              <a:avLst/>
            </a:prstGeom>
            <a:solidFill>
              <a:srgbClr val="C60C30"/>
            </a:solidFill>
            <a:ln w="19050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TextBox 75">
              <a:extLst>
                <a:ext uri="{FF2B5EF4-FFF2-40B4-BE49-F238E27FC236}">
                  <a16:creationId xmlns:a16="http://schemas.microsoft.com/office/drawing/2014/main" id="{C8FFE8AA-D4AF-5A2B-A0C0-9E5C7E9BFA88}"/>
                </a:ext>
              </a:extLst>
            </p:cNvPr>
            <p:cNvSpPr txBox="1"/>
            <p:nvPr/>
          </p:nvSpPr>
          <p:spPr>
            <a:xfrm>
              <a:off x="8388519" y="1345098"/>
              <a:ext cx="1188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r>
                <a:rPr lang="en-SG" sz="1400" b="1" baseline="0" dirty="0"/>
                <a:t>Logic Layer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3708983-6610-8F4A-151B-9E839C58A7A1}"/>
                </a:ext>
              </a:extLst>
            </p:cNvPr>
            <p:cNvSpPr/>
            <p:nvPr/>
          </p:nvSpPr>
          <p:spPr bwMode="auto">
            <a:xfrm rot="20036182">
              <a:off x="6007661" y="2011392"/>
              <a:ext cx="2546805" cy="60086"/>
            </a:xfrm>
            <a:prstGeom prst="rect">
              <a:avLst/>
            </a:prstGeom>
            <a:solidFill>
              <a:srgbClr val="006600"/>
            </a:solidFill>
            <a:ln w="9525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2400" b="0" i="0" u="none" strike="noStrike" cap="none" normalizeH="0" baseline="-25000">
                <a:ln>
                  <a:noFill/>
                </a:ln>
                <a:solidFill>
                  <a:srgbClr val="262626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C559AA-ACEF-F6B7-FCB3-8EAEF6A4EF5B}"/>
                </a:ext>
              </a:extLst>
            </p:cNvPr>
            <p:cNvSpPr/>
            <p:nvPr/>
          </p:nvSpPr>
          <p:spPr bwMode="auto">
            <a:xfrm>
              <a:off x="2186171" y="2562205"/>
              <a:ext cx="3960891" cy="67065"/>
            </a:xfrm>
            <a:prstGeom prst="rect">
              <a:avLst/>
            </a:prstGeom>
            <a:solidFill>
              <a:srgbClr val="006600"/>
            </a:solidFill>
            <a:ln w="9525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2400" b="0" i="0" u="none" strike="noStrike" cap="none" normalizeH="0" baseline="-25000">
                <a:ln>
                  <a:noFill/>
                </a:ln>
                <a:solidFill>
                  <a:srgbClr val="262626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100" name="TextBox 75">
              <a:extLst>
                <a:ext uri="{FF2B5EF4-FFF2-40B4-BE49-F238E27FC236}">
                  <a16:creationId xmlns:a16="http://schemas.microsoft.com/office/drawing/2014/main" id="{316EE168-09A9-5054-FCC0-475E06BD4574}"/>
                </a:ext>
              </a:extLst>
            </p:cNvPr>
            <p:cNvSpPr txBox="1"/>
            <p:nvPr/>
          </p:nvSpPr>
          <p:spPr>
            <a:xfrm>
              <a:off x="7935670" y="1923439"/>
              <a:ext cx="20938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2860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7432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2004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657600" algn="l" defTabSz="914400" rtl="0" eaLnBrk="1" latinLnBrk="0" hangingPunct="1">
                <a:defRPr sz="2400" kern="1200" baseline="-25000">
                  <a:solidFill>
                    <a:srgbClr val="262626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r>
                <a:rPr lang="en-SG" sz="1400" b="1" baseline="0" dirty="0"/>
                <a:t>Configuration Memory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49AB426-3674-979B-4818-C633D0385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988" y="3171606"/>
            <a:ext cx="5314668" cy="35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3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36F63-920D-B005-F739-D5CE554B8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7E6B787-6EF3-EA9F-7FED-FB75A22EC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A9A98-3C91-BFA6-3D3C-A24DA6E1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Configuration Memory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0E37DB6B-472A-D35E-CCFE-7BA0C3B6A229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For most of the FPGAs the configuration memory is built using SRAM cells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These SRAM cells do not store instructions, they store configuration bits that define logic functions and routing paths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Unlike processors, there are no instructions or instruction execution here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 entire FPGA logic operates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concurrently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FPGAs directly realize hardware circuits rather than executing instructions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800" i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88E63F4-52A1-8751-6444-684076CC5774}"/>
              </a:ext>
            </a:extLst>
          </p:cNvPr>
          <p:cNvSpPr>
            <a:spLocks noGrp="1"/>
          </p:cNvSpPr>
          <p:nvPr/>
        </p:nvSpPr>
        <p:spPr bwMode="auto">
          <a:xfrm>
            <a:off x="2209800" y="808994"/>
            <a:ext cx="7772400" cy="464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262626"/>
                </a:solidFill>
                <a:latin typeface="Helvetica Neue Light"/>
                <a:ea typeface="ＭＳ Ｐゴシック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262626"/>
                </a:solidFill>
                <a:latin typeface="Helvetica Neue Light"/>
                <a:ea typeface="ＭＳ Ｐゴシック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62626"/>
                </a:solidFill>
                <a:latin typeface="Helvetica Neue Light"/>
                <a:ea typeface="ＭＳ Ｐゴシック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9pPr>
          </a:lstStyle>
          <a:p>
            <a:pPr algn="just">
              <a:lnSpc>
                <a:spcPct val="150000"/>
              </a:lnSpc>
              <a:defRPr/>
            </a:pPr>
            <a:endParaRPr lang="en-GB" sz="2000" kern="12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62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0A8F-497F-AE00-4D32-5BE379E6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326466-7751-5BE6-8897-E17F72AFE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1B961-B2A9-0F6C-2532-A79E17A5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Firmware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4A89A112-E0F7-1F90-82EB-7A9B4DE9FEC4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In embedded industries this sometimes creates some confusion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For many hardware design is circuit design and their PCB implementation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Software is for processors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So many a times we find a middle ground and call FPGA designs as firmware designs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800" i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C9E49A7-B495-5783-2FD2-D228A9FC09F2}"/>
              </a:ext>
            </a:extLst>
          </p:cNvPr>
          <p:cNvSpPr>
            <a:spLocks noGrp="1"/>
          </p:cNvSpPr>
          <p:nvPr/>
        </p:nvSpPr>
        <p:spPr bwMode="auto">
          <a:xfrm>
            <a:off x="2209800" y="808994"/>
            <a:ext cx="7772400" cy="464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262626"/>
                </a:solidFill>
                <a:latin typeface="Helvetica Neue Light"/>
                <a:ea typeface="ＭＳ Ｐゴシック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262626"/>
                </a:solidFill>
                <a:latin typeface="Helvetica Neue Light"/>
                <a:ea typeface="ＭＳ Ｐゴシック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62626"/>
                </a:solidFill>
                <a:latin typeface="Helvetica Neue Light"/>
                <a:ea typeface="ＭＳ Ｐゴシック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9pPr>
          </a:lstStyle>
          <a:p>
            <a:pPr algn="just">
              <a:lnSpc>
                <a:spcPct val="150000"/>
              </a:lnSpc>
              <a:defRPr/>
            </a:pPr>
            <a:endParaRPr lang="en-GB" sz="2000" kern="12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383D-D310-E643-A317-1CB5C111F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004F8B-1B5B-A80E-03D6-BEDBE4F2A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AC497-31B4-C1C7-E923-6B24C127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CPU vs FPGA Programming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C630F9C-4F89-5D57-0C41-C78532A6D1DE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800" i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3BB320-AB4C-50B3-1B8A-DC424DA58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1268943"/>
            <a:ext cx="7950200" cy="530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2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70FFD-C6D1-12A7-126E-821C4BE3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1DFE10-05A4-2DEE-DEFD-04C47EC9A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5068F-4ED2-B547-325C-407499F6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Programming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D0F0AD1-714D-65F4-EE85-EB06A450671C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Since the configuration memory is SRAM based, it is volatile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once power to the FPGA is lost, the contents are lost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During development we will use JTAG interface to program the FPGA with the bitstream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When going for production, the bitstream is stored in non-volatile memory (such as SPI flash) and loaded to FPGA at power on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There are FPGAs which configuration memory built using flash memory (less popular)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They don’t lose their configuration during power cycle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Very rarely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antifuse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-based FPGAs are also used, which are one time programmable (Microchip Radiation tolerant FPGAs)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800" i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6CC15D93-AE10-38C2-CD60-FC3B084017D4}"/>
              </a:ext>
            </a:extLst>
          </p:cNvPr>
          <p:cNvSpPr>
            <a:spLocks noGrp="1"/>
          </p:cNvSpPr>
          <p:nvPr/>
        </p:nvSpPr>
        <p:spPr bwMode="auto">
          <a:xfrm>
            <a:off x="2209800" y="808994"/>
            <a:ext cx="7772400" cy="464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262626"/>
                </a:solidFill>
                <a:latin typeface="Helvetica Neue Light"/>
                <a:ea typeface="ＭＳ Ｐゴシック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262626"/>
                </a:solidFill>
                <a:latin typeface="Helvetica Neue Light"/>
                <a:ea typeface="ＭＳ Ｐゴシック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62626"/>
                </a:solidFill>
                <a:latin typeface="Helvetica Neue Light"/>
                <a:ea typeface="ＭＳ Ｐゴシック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9pPr>
          </a:lstStyle>
          <a:p>
            <a:pPr algn="just">
              <a:lnSpc>
                <a:spcPct val="150000"/>
              </a:lnSpc>
              <a:defRPr/>
            </a:pPr>
            <a:endParaRPr lang="en-GB" sz="2000" kern="12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71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A57B-0803-B9F3-DE3E-C15D3A4E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F9C9E82-F224-9220-4999-A105C9216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BBE1E-2750-4277-A2FA-0153276B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Bitstream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EE62557-C040-C3FF-2916-0B02E2833D76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0988126" cy="57591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One interesting feature of FPGA bitstream is its size is independent of the complexity of the circuit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It only depends on the FPGA part number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This makes sense since the bitstream always configures entire configuration memory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FPGA design software usually support bitstream compression which effectively reduces bitstream size depending on the circuit complexity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This helps in reducing the programming time and memory requirement for storing bitstream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 internal programming circuit of FPGAs handles the compressed bitstream to properly configure the entire memory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n-US" sz="2800" i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B4D73D4-5E62-B8C8-EE48-4A191AB4EB12}"/>
              </a:ext>
            </a:extLst>
          </p:cNvPr>
          <p:cNvSpPr>
            <a:spLocks noGrp="1"/>
          </p:cNvSpPr>
          <p:nvPr/>
        </p:nvSpPr>
        <p:spPr bwMode="auto">
          <a:xfrm>
            <a:off x="2209800" y="808994"/>
            <a:ext cx="7772400" cy="464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262626"/>
                </a:solidFill>
                <a:latin typeface="Helvetica Neue Light"/>
                <a:ea typeface="ＭＳ Ｐゴシック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262626"/>
                </a:solidFill>
                <a:latin typeface="Helvetica Neue Light"/>
                <a:ea typeface="ＭＳ Ｐゴシック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262626"/>
                </a:solidFill>
                <a:latin typeface="Helvetica Neue Light"/>
                <a:ea typeface="ＭＳ Ｐゴシック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62626"/>
                </a:solidFill>
                <a:latin typeface="Helvetica Neue Light"/>
                <a:ea typeface="ＭＳ Ｐゴシック"/>
              </a:defRPr>
            </a:lvl9pPr>
          </a:lstStyle>
          <a:p>
            <a:pPr algn="just">
              <a:lnSpc>
                <a:spcPct val="150000"/>
              </a:lnSpc>
              <a:defRPr/>
            </a:pPr>
            <a:endParaRPr lang="en-GB" sz="2000" kern="12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79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3F66-56C7-2718-3B74-93D2A6B1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140DFE0-AD6F-FD0D-DBAA-26321BD19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BE57C-7F5B-0310-450A-F98934229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Key Takeaways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F89ABCA-DC53-49F8-BADF-4D33E96566D4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C9B4C3A2-BA91-9C11-C9B3-D87A318ADA4F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1120814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FPGA </a:t>
            </a:r>
            <a:r>
              <a:rPr lang="en-US" sz="2800" i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programming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is fundamentally different from processor programming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 processor program consists of instructions that are executed sequentially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An FPGA program consists of configuration bits stored in configuration memory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Configuration bits define the behavior of LUTs, routing resources, and flip-flops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FPGAs implement hardware circuits directly rather than executing instructions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Hardware in an FPGA operates concurrently (in parallel)</a:t>
            </a:r>
          </a:p>
        </p:txBody>
      </p:sp>
    </p:spTree>
    <p:extLst>
      <p:ext uri="{BB962C8B-B14F-4D97-AF65-F5344CB8AC3E}">
        <p14:creationId xmlns:p14="http://schemas.microsoft.com/office/powerpoint/2010/main" val="107403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d map for Dyslexia_Win32_ss_v3.potx" id="{52B68AD9-87CD-4104-BE88-D09E115B5193}" vid="{32DE419F-2C9E-491B-9DE2-9CB15F0BBAC2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78DEAE-E0CA-42BB-BA2E-F6A39AAEB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A1A6209-623F-4A40-A043-EF97F4DE51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CC2A95-AB18-4E2B-BAAB-ED507F826E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562</TotalTime>
  <Words>627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Courier New</vt:lpstr>
      <vt:lpstr>Helvetica</vt:lpstr>
      <vt:lpstr>Segoe UI</vt:lpstr>
      <vt:lpstr>Segoe UI Semibold</vt:lpstr>
      <vt:lpstr>Office Theme</vt:lpstr>
      <vt:lpstr>Custom Design</vt:lpstr>
      <vt:lpstr>FPGA Programming</vt:lpstr>
      <vt:lpstr>Programming</vt:lpstr>
      <vt:lpstr>Processor Programming</vt:lpstr>
      <vt:lpstr>FPGA Programming</vt:lpstr>
      <vt:lpstr>Bitstreams</vt:lpstr>
      <vt:lpstr>Configuration Memory</vt:lpstr>
      <vt:lpstr>Configuration Memory</vt:lpstr>
      <vt:lpstr>Firmware</vt:lpstr>
      <vt:lpstr>CPU vs FPGA Programming</vt:lpstr>
      <vt:lpstr>FPGA Programming</vt:lpstr>
      <vt:lpstr>Bitstream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Vipin Kizheppatt</cp:lastModifiedBy>
  <cp:revision>58</cp:revision>
  <dcterms:created xsi:type="dcterms:W3CDTF">2023-05-01T17:37:37Z</dcterms:created>
  <dcterms:modified xsi:type="dcterms:W3CDTF">2026-06-12T03:42:06Z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